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 lvl="0">
      <a:defRPr lang="ru-RU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24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4224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DCC-4061-94B2-3D8B55A23474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DCC-4061-94B2-3D8B55A23474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DCC-4061-94B2-3D8B55A23474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DCC-4061-94B2-3D8B55A23474}"/>
              </c:ext>
            </c:extLst>
          </c:dPt>
          <c:dLbls>
            <c:dLbl>
              <c:idx val="0"/>
              <c:layout>
                <c:manualLayout>
                  <c:x val="0.23021123174841299"/>
                  <c:y val="-6.797848055879940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 defTabSz="914400">
                      <a:defRPr lang="ru-RU" sz="18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  <a:ea typeface="Microsoft YaHei" panose="020B0503020204020204" pitchFamily="34" charset="-122"/>
                        <a:cs typeface="+mn-cs"/>
                      </a:defRPr>
                    </a:pPr>
                    <a:r>
                      <a:rPr lang="ru-RU" sz="16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50% иностранных компонентов</a:t>
                    </a:r>
                    <a:r>
                      <a:rPr lang="ru-RU" sz="1600"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 defTabSz="914400">
                    <a:defRPr lang="ru-RU" sz="18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  <a:ea typeface="Microsoft YaHei" panose="020B0503020204020204" pitchFamily="34" charset="-122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9292399850243398"/>
                      <c:h val="0.45984200131665598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5DCC-4061-94B2-3D8B55A23474}"/>
                </c:ext>
              </c:extLst>
            </c:dLbl>
            <c:dLbl>
              <c:idx val="1"/>
              <c:layout>
                <c:manualLayout>
                  <c:x val="-0.17855162258464699"/>
                  <c:y val="8.344918496959599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 defTabSz="914400">
                      <a:defRPr lang="ru-RU" sz="18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  <a:ea typeface="Microsoft YaHei" panose="020B0503020204020204" pitchFamily="34" charset="-122"/>
                        <a:cs typeface="+mn-cs"/>
                      </a:defRPr>
                    </a:pPr>
                    <a:r>
                      <a:rPr lang="ru-RU" sz="16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50% отечественных компонентов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 defTabSz="914400">
                    <a:defRPr lang="ru-RU" sz="18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  <a:ea typeface="Microsoft YaHei" panose="020B0503020204020204" pitchFamily="34" charset="-122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41725945338824399"/>
                      <c:h val="0.405859117840685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5DCC-4061-94B2-3D8B55A2347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DCC-4061-94B2-3D8B55A2347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DCC-4061-94B2-3D8B55A234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j-lt"/>
                    <a:ea typeface="Microsoft YaHei" panose="020B0503020204020204" pitchFamily="34" charset="-122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635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Параметр</c:v>
                </c:pt>
                <c:pt idx="1">
                  <c:v>Параметр</c:v>
                </c:pt>
                <c:pt idx="2">
                  <c:v>Параметр</c:v>
                </c:pt>
                <c:pt idx="3">
                  <c:v>Параметр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DCC-4061-94B2-3D8B55A234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1"/>
      </c:doughnutChart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60c5f494-4383-4022-acc6-a7021b54a1d9}"/>
      </c:ext>
    </c:extLst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lang="ru-RU" sz="18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65C-454F-AEA0-D7CA3630AD66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65C-454F-AEA0-D7CA3630AD66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65C-454F-AEA0-D7CA3630AD66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65C-454F-AEA0-D7CA3630AD66}"/>
              </c:ext>
            </c:extLst>
          </c:dPt>
          <c:dLbls>
            <c:dLbl>
              <c:idx val="0"/>
              <c:layout>
                <c:manualLayout>
                  <c:x val="0.244598657494977"/>
                  <c:y val="-7.258677548967500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 defTabSz="914400">
                      <a:defRPr lang="ru-RU" sz="18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  <a:ea typeface="Microsoft YaHei" panose="020B0503020204020204" pitchFamily="34" charset="-122"/>
                        <a:cs typeface="+mn-cs"/>
                      </a:defRPr>
                    </a:pPr>
                    <a:r>
                      <a:rPr lang="ru-RU" sz="16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30% иностранных компонентов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 defTabSz="914400">
                    <a:defRPr lang="ru-RU" sz="18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  <a:ea typeface="Microsoft YaHei" panose="020B0503020204020204" pitchFamily="34" charset="-122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9498315237738701"/>
                      <c:h val="0.53061224489795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165C-454F-AEA0-D7CA3630AD66}"/>
                </c:ext>
              </c:extLst>
            </c:dLbl>
            <c:dLbl>
              <c:idx val="1"/>
              <c:layout>
                <c:manualLayout>
                  <c:x val="-0.140686913758542"/>
                  <c:y val="-1.2337516807889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 defTabSz="914400">
                      <a:defRPr lang="ru-RU" sz="18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  <a:ea typeface="Microsoft YaHei" panose="020B0503020204020204" pitchFamily="34" charset="-122"/>
                        <a:cs typeface="+mn-cs"/>
                      </a:defRPr>
                    </a:pPr>
                    <a:r>
                      <a:rPr lang="ru-RU" sz="16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70% отечественных компонентов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 defTabSz="914400">
                    <a:defRPr lang="ru-RU" sz="18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  <a:ea typeface="Microsoft YaHei" panose="020B0503020204020204" pitchFamily="34" charset="-122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41931860726319697"/>
                      <c:h val="0.49506254114548998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165C-454F-AEA0-D7CA3630AD6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65C-454F-AEA0-D7CA3630AD66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65C-454F-AEA0-D7CA3630AD6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j-lt"/>
                    <a:ea typeface="Microsoft YaHei" panose="020B0503020204020204" pitchFamily="34" charset="-122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635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Параметр</c:v>
                </c:pt>
                <c:pt idx="1">
                  <c:v>Параметр</c:v>
                </c:pt>
                <c:pt idx="2">
                  <c:v>Параметр</c:v>
                </c:pt>
                <c:pt idx="3">
                  <c:v>Параметр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5C-454F-AEA0-D7CA3630AD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1"/>
      </c:doughnutChart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60c5f494-4383-4022-acc6-a7021b54a1d9}"/>
      </c:ext>
    </c:extLst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lang="ru-RU" sz="180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863347061025801"/>
          <c:y val="0.123726135615537"/>
          <c:w val="0.42797454137027302"/>
          <c:h val="0.7525477287689269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318-4A9D-8EFF-413A2B286C3A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318-4A9D-8EFF-413A2B286C3A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318-4A9D-8EFF-413A2B286C3A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318-4A9D-8EFF-413A2B286C3A}"/>
              </c:ext>
            </c:extLst>
          </c:dPt>
          <c:dLbls>
            <c:dLbl>
              <c:idx val="0"/>
              <c:layout>
                <c:manualLayout>
                  <c:x val="0.29757507082331902"/>
                  <c:y val="9.2165898617511503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 defTabSz="914400">
                      <a:defRPr lang="ru-RU" sz="18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  <a:ea typeface="Microsoft YaHei" panose="020B0503020204020204" pitchFamily="34" charset="-122"/>
                        <a:cs typeface="+mn-cs"/>
                      </a:defRPr>
                    </a:pPr>
                    <a:r>
                      <a:rPr lang="ru-RU" sz="16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5% иностранных компонентов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 defTabSz="914400">
                    <a:defRPr lang="ru-RU" sz="18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  <a:ea typeface="Microsoft YaHei" panose="020B0503020204020204" pitchFamily="34" charset="-122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6915013103706501"/>
                      <c:h val="0.400263331138907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D318-4A9D-8EFF-413A2B286C3A}"/>
                </c:ext>
              </c:extLst>
            </c:dLbl>
            <c:dLbl>
              <c:idx val="1"/>
              <c:layout>
                <c:manualLayout>
                  <c:x val="-0.28618921150265603"/>
                  <c:y val="0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 defTabSz="914400">
                      <a:defRPr lang="ru-RU" sz="18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  <a:ea typeface="Microsoft YaHei" panose="020B0503020204020204" pitchFamily="34" charset="-122"/>
                        <a:cs typeface="+mn-cs"/>
                      </a:defRPr>
                    </a:pPr>
                    <a:r>
                      <a:rPr lang="ru-RU" sz="16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95% отечественных компонентов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 defTabSz="914400">
                    <a:defRPr lang="ru-RU" sz="18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  <a:ea typeface="Microsoft YaHei" panose="020B0503020204020204" pitchFamily="34" charset="-122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43523025084238098"/>
                      <c:h val="0.46313364055299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D318-4A9D-8EFF-413A2B286C3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18-4A9D-8EFF-413A2B286C3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18-4A9D-8EFF-413A2B286C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j-lt"/>
                    <a:ea typeface="Microsoft YaHei" panose="020B0503020204020204" pitchFamily="34" charset="-122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635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Параметр</c:v>
                </c:pt>
                <c:pt idx="1">
                  <c:v>Параметр</c:v>
                </c:pt>
                <c:pt idx="2">
                  <c:v>Параметр</c:v>
                </c:pt>
                <c:pt idx="3">
                  <c:v>Параметр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318-4A9D-8EFF-413A2B286C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1"/>
      </c:doughnutChart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60c5f494-4383-4022-acc6-a7021b54a1d9}"/>
      </c:ext>
    </c:extLst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lang="ru-RU" sz="18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3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3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03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03E67-5427-4260-B62A-5770CE0A55F7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83497-370A-4769-952C-4A01B6A4B64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661" y="0"/>
            <a:ext cx="9773989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6344" y="1634427"/>
            <a:ext cx="5897880" cy="2387600"/>
          </a:xfrm>
        </p:spPr>
        <p:txBody>
          <a:bodyPr anchor="ctr">
            <a:noAutofit/>
          </a:bodyPr>
          <a:lstStyle>
            <a:lvl1pPr algn="l">
              <a:defRPr sz="2800" b="1"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6344" y="4114102"/>
            <a:ext cx="5897880" cy="1655762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DE8E-1A21-4D39-9CDA-17B1B51844F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18" y="546291"/>
            <a:ext cx="2778749" cy="65595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968" y="546291"/>
            <a:ext cx="2216920" cy="70489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907793" y="613341"/>
            <a:ext cx="3309421" cy="7048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838200" y="365125"/>
            <a:ext cx="0" cy="1325563"/>
          </a:xfrm>
          <a:prstGeom prst="line">
            <a:avLst/>
          </a:prstGeom>
          <a:ln w="12700">
            <a:solidFill>
              <a:srgbClr val="51A6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661" y="0"/>
            <a:ext cx="9773989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6345" y="1709738"/>
            <a:ext cx="6117335" cy="2852737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6345" y="4589463"/>
            <a:ext cx="6117335" cy="15001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DE8E-1A21-4D39-9CDA-17B1B51844F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18" y="546291"/>
            <a:ext cx="2778749" cy="65595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968" y="546291"/>
            <a:ext cx="2216920" cy="70489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907793" y="603914"/>
            <a:ext cx="3309421" cy="7048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838200" y="365125"/>
            <a:ext cx="0" cy="1325563"/>
          </a:xfrm>
          <a:prstGeom prst="line">
            <a:avLst/>
          </a:prstGeom>
          <a:ln w="12700">
            <a:solidFill>
              <a:srgbClr val="51A6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Иванов Иван Иванович, группа 11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DE8E-1A21-4D39-9CDA-17B1B51844F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DE8E-1A21-4D39-9CDA-17B1B51844F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6311900"/>
            <a:ext cx="12191976" cy="546100"/>
          </a:xfrm>
          <a:prstGeom prst="rect">
            <a:avLst/>
          </a:prstGeom>
          <a:solidFill>
            <a:srgbClr val="0086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BDE8E-1A21-4D39-9CDA-17B1B51844F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689BC-BCE1-425E-82F2-6B89184EE8F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3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2.xml"/><Relationship Id="rId5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5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5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2400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Импортонезависимая автоматизированная система оперативного управления перевозками</a:t>
            </a:r>
            <a:endParaRPr lang="ru-RU" sz="2400" b="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6344" y="4114101"/>
            <a:ext cx="5897880" cy="2136679"/>
          </a:xfrm>
        </p:spPr>
        <p:txBody>
          <a:bodyPr/>
          <a:lstStyle/>
          <a:p>
            <a:pPr>
              <a:lnSpc>
                <a:spcPct val="50000"/>
              </a:lnSpc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Работу выполнил</a:t>
            </a:r>
          </a:p>
          <a:p>
            <a:pPr>
              <a:lnSpc>
                <a:spcPct val="50000"/>
              </a:lnSpc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студент группы УИС-111</a:t>
            </a:r>
          </a:p>
          <a:p>
            <a:pPr>
              <a:lnSpc>
                <a:spcPct val="50000"/>
              </a:lnSpc>
            </a:pPr>
            <a:r>
              <a:rPr lang="ru-RU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Кулигин Александр Андреевич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ru-RU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Руководитель проекта</a:t>
            </a:r>
          </a:p>
          <a:p>
            <a:pPr>
              <a:lnSpc>
                <a:spcPct val="50000"/>
              </a:lnSpc>
            </a:pPr>
            <a:r>
              <a:rPr lang="ru-RU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Нуждин Олег Олегович</a:t>
            </a:r>
            <a:endParaRPr lang="ru-RU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rot="16200000">
            <a:off x="8405891" y="1646175"/>
            <a:ext cx="6331442" cy="303909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charset="0"/>
                <a:cs typeface="Times New Roman" panose="02020603050405020304" charset="0"/>
              </a:rPr>
              <a:t>Цели и задачи</a:t>
            </a:r>
          </a:p>
        </p:txBody>
      </p:sp>
      <p:pic>
        <p:nvPicPr>
          <p:cNvPr id="15" name="Объект 1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176" y="6338773"/>
            <a:ext cx="685696" cy="519227"/>
          </a:xfrm>
        </p:spPr>
      </p:pic>
      <p:sp>
        <p:nvSpPr>
          <p:cNvPr id="4" name="TextBox 3"/>
          <p:cNvSpPr txBox="1"/>
          <p:nvPr/>
        </p:nvSpPr>
        <p:spPr>
          <a:xfrm>
            <a:off x="8691245" y="6394450"/>
            <a:ext cx="28822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Студент:</a:t>
            </a:r>
          </a:p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Кулигин Александр Андреевич, группа УИС-111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32184" y="6409551"/>
            <a:ext cx="455964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Импортонезависимая автоматизированная система оперативного управления перевозками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3634" y="6380852"/>
            <a:ext cx="40544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684" y="6327643"/>
            <a:ext cx="431278" cy="498929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837565" y="1326515"/>
            <a:ext cx="9215120" cy="481711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Цель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Обеспечение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технологического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суверенитета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,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непрерывности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и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безопасности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транспортных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операций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sz="2000" b="0" i="0" dirty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sz="2000" b="0" i="0" dirty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Назначение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Автоматизация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и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оптимизация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перевозочного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процесса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с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минимизацией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зависимости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от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иностранного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ПО.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sz="2000" b="0" i="0" dirty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sz="2000" b="0" i="0" dirty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Ключевые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задачи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Планирование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,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мониторинг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,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управление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ресурсами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,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документооборот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,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аналитика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, </a:t>
            </a:r>
            <a:r>
              <a:rPr sz="2000" b="0" i="0" dirty="0" err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интеграция</a:t>
            </a:r>
            <a:r>
              <a:rPr sz="2000" b="0" i="0" dirty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Эволюция</a:t>
            </a:r>
            <a:r>
              <a:rPr lang="en-US" altLang="ru-RU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импортонезависимости</a:t>
            </a:r>
            <a:r>
              <a:rPr lang="en-US" altLang="ru-RU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транспортной</a:t>
            </a:r>
            <a:r>
              <a:rPr lang="en-US" altLang="ru-RU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логистике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5167311"/>
            <a:ext cx="10402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Диаграмма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показывает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переход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от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смешанных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решений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к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полностью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отечественной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ru-RU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технологической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платформе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r>
              <a:rPr lang="ru-RU" dirty="0">
                <a:latin typeface="Montserrat" pitchFamily="2" charset="0"/>
                <a:sym typeface="+mn-ea"/>
              </a:rPr>
              <a:t> </a:t>
            </a:r>
            <a:r>
              <a:rPr lang="ru-RU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  <p:graphicFrame>
        <p:nvGraphicFramePr>
          <p:cNvPr id="7" name="图表 32"/>
          <p:cNvGraphicFramePr/>
          <p:nvPr/>
        </p:nvGraphicFramePr>
        <p:xfrm>
          <a:off x="838200" y="1929130"/>
          <a:ext cx="3392170" cy="1929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79270" y="3952875"/>
            <a:ext cx="1510030" cy="218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charset="0"/>
                <a:ea typeface="Arial Unicode MS" panose="020B0604020202020204" pitchFamily="34" charset="-128"/>
                <a:cs typeface="Times New Roman" panose="02020603050405020304" charset="0"/>
              </a:rPr>
              <a:t>2014-2021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1830" y="6394311"/>
            <a:ext cx="288151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Студент:</a:t>
            </a:r>
            <a:endParaRPr lang="ru-RU" sz="1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Кулигин Александр Андреевич, группа УИС-111</a:t>
            </a:r>
            <a:endParaRPr lang="ru-RU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32184" y="6394311"/>
            <a:ext cx="455964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Импортонезависимая автоматизированная система оперативного управления перевозками</a:t>
            </a:r>
            <a:endParaRPr lang="ru-RU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633634" y="6380852"/>
            <a:ext cx="40544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</a:p>
        </p:txBody>
      </p:sp>
      <p:pic>
        <p:nvPicPr>
          <p:cNvPr id="20" name="Объект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176" y="6338773"/>
            <a:ext cx="685696" cy="51922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684" y="6327643"/>
            <a:ext cx="431278" cy="498929"/>
          </a:xfrm>
          <a:prstGeom prst="rect">
            <a:avLst/>
          </a:prstGeom>
        </p:spPr>
      </p:pic>
      <p:graphicFrame>
        <p:nvGraphicFramePr>
          <p:cNvPr id="8" name="图表 32"/>
          <p:cNvGraphicFramePr/>
          <p:nvPr/>
        </p:nvGraphicFramePr>
        <p:xfrm>
          <a:off x="4408170" y="1929130"/>
          <a:ext cx="3392170" cy="1929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图表 32"/>
          <p:cNvGraphicFramePr/>
          <p:nvPr/>
        </p:nvGraphicFramePr>
        <p:xfrm>
          <a:off x="7978140" y="1929130"/>
          <a:ext cx="3392170" cy="1929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0" name="Текстовое поле 9"/>
          <p:cNvSpPr txBox="1"/>
          <p:nvPr/>
        </p:nvSpPr>
        <p:spPr>
          <a:xfrm>
            <a:off x="5431790" y="3932555"/>
            <a:ext cx="1762125" cy="220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altLang="en-US"/>
              <a:t>2022-2023</a:t>
            </a: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9025255" y="3952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/>
              <a:t>2024-...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Блок-схема: процесс  9"/>
          <p:cNvSpPr/>
          <p:nvPr/>
        </p:nvSpPr>
        <p:spPr>
          <a:xfrm>
            <a:off x="838835" y="2174240"/>
            <a:ext cx="1940560" cy="275018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en-US" sz="3200" dirty="0">
                <a:latin typeface="Times New Roman" panose="02020603050405020304" charset="0"/>
                <a:cs typeface="Times New Roman" panose="02020603050405020304" charset="0"/>
              </a:rPr>
              <a:t>А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рхитектура</a:t>
            </a:r>
            <a:r>
              <a:rPr lang="en-US" altLang="ru-RU" sz="32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5303334"/>
            <a:ext cx="10402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Схематическое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представление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многоуровневой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архитектуры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выделением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ключевых</a:t>
            </a: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компонентов</a:t>
            </a:r>
            <a:r>
              <a:rPr lang="ru-RU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1830" y="6394311"/>
            <a:ext cx="288151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Студент:</a:t>
            </a:r>
            <a:endParaRPr lang="ru-RU" sz="1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Кулигин Александр Андреевич, группа УИС-111</a:t>
            </a:r>
            <a:endParaRPr lang="ru-RU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32184" y="6394311"/>
            <a:ext cx="455964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Импортонезависимая автоматизированная система оперативного управления перевозками</a:t>
            </a:r>
            <a:endParaRPr lang="ru-RU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633634" y="6380852"/>
            <a:ext cx="40544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</a:p>
        </p:txBody>
      </p:sp>
      <p:pic>
        <p:nvPicPr>
          <p:cNvPr id="20" name="Объект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176" y="6338773"/>
            <a:ext cx="685696" cy="519227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684" y="6327643"/>
            <a:ext cx="431278" cy="498929"/>
          </a:xfrm>
          <a:prstGeom prst="rect">
            <a:avLst/>
          </a:prstGeom>
        </p:spPr>
      </p:pic>
      <p:sp>
        <p:nvSpPr>
          <p:cNvPr id="7" name="Блок-схема: процесс  6"/>
          <p:cNvSpPr/>
          <p:nvPr/>
        </p:nvSpPr>
        <p:spPr>
          <a:xfrm>
            <a:off x="1351915" y="1369695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ru-RU" sz="1000"/>
              <a:t>Frontend</a:t>
            </a:r>
          </a:p>
        </p:txBody>
      </p:sp>
      <p:sp>
        <p:nvSpPr>
          <p:cNvPr id="8" name="Блок-схема: процесс  7"/>
          <p:cNvSpPr/>
          <p:nvPr/>
        </p:nvSpPr>
        <p:spPr>
          <a:xfrm>
            <a:off x="1351915" y="2488565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en-US" sz="1000"/>
              <a:t>Веб-интерфейс</a:t>
            </a:r>
          </a:p>
        </p:txBody>
      </p:sp>
      <p:sp>
        <p:nvSpPr>
          <p:cNvPr id="9" name="Блок-схема: процесс  8"/>
          <p:cNvSpPr/>
          <p:nvPr/>
        </p:nvSpPr>
        <p:spPr>
          <a:xfrm>
            <a:off x="1351915" y="3608070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en-US" sz="1000"/>
              <a:t>Мобильные приложения</a:t>
            </a:r>
          </a:p>
        </p:txBody>
      </p:sp>
      <p:sp>
        <p:nvSpPr>
          <p:cNvPr id="11" name="Блок-схема: процесс  10"/>
          <p:cNvSpPr/>
          <p:nvPr/>
        </p:nvSpPr>
        <p:spPr>
          <a:xfrm>
            <a:off x="3677285" y="2175510"/>
            <a:ext cx="1852930" cy="271335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14" name="Блок-схема: процесс  13"/>
          <p:cNvSpPr/>
          <p:nvPr/>
        </p:nvSpPr>
        <p:spPr>
          <a:xfrm>
            <a:off x="6428105" y="2183130"/>
            <a:ext cx="1797050" cy="2706370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15" name="Блок-схема: процесс  14"/>
          <p:cNvSpPr/>
          <p:nvPr/>
        </p:nvSpPr>
        <p:spPr>
          <a:xfrm>
            <a:off x="9123045" y="2182495"/>
            <a:ext cx="1789430" cy="2707640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16" name="Блок-схема: процесс  15"/>
          <p:cNvSpPr/>
          <p:nvPr/>
        </p:nvSpPr>
        <p:spPr>
          <a:xfrm>
            <a:off x="4131945" y="1369695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ru-RU" sz="1000"/>
              <a:t>Backend</a:t>
            </a:r>
          </a:p>
        </p:txBody>
      </p:sp>
      <p:sp>
        <p:nvSpPr>
          <p:cNvPr id="21" name="Блок-схема: процесс  20"/>
          <p:cNvSpPr/>
          <p:nvPr/>
        </p:nvSpPr>
        <p:spPr>
          <a:xfrm>
            <a:off x="4146550" y="2488565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000"/>
              <a:t>Микросервисы</a:t>
            </a:r>
            <a:r>
              <a:rPr lang="en-US" altLang="ru-RU" sz="1000"/>
              <a:t> (Python, Go, OpenJDK)</a:t>
            </a:r>
          </a:p>
        </p:txBody>
      </p:sp>
      <p:sp>
        <p:nvSpPr>
          <p:cNvPr id="22" name="Блок-схема: процесс  21"/>
          <p:cNvSpPr/>
          <p:nvPr/>
        </p:nvSpPr>
        <p:spPr>
          <a:xfrm>
            <a:off x="6911975" y="1369695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ru-RU" sz="1000"/>
              <a:t>Database</a:t>
            </a:r>
          </a:p>
        </p:txBody>
      </p:sp>
      <p:sp>
        <p:nvSpPr>
          <p:cNvPr id="23" name="Блок-схема: процесс  22"/>
          <p:cNvSpPr/>
          <p:nvPr/>
        </p:nvSpPr>
        <p:spPr>
          <a:xfrm>
            <a:off x="6911975" y="2488565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ru-RU" sz="1000"/>
              <a:t>PostgreSQL</a:t>
            </a:r>
            <a:endParaRPr lang="ru-RU" altLang="en-US" sz="1000"/>
          </a:p>
        </p:txBody>
      </p:sp>
      <p:sp>
        <p:nvSpPr>
          <p:cNvPr id="24" name="Блок-схема: процесс  23"/>
          <p:cNvSpPr/>
          <p:nvPr/>
        </p:nvSpPr>
        <p:spPr>
          <a:xfrm>
            <a:off x="6904355" y="3336925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ru-RU" sz="1000"/>
              <a:t>ClickHouse</a:t>
            </a:r>
          </a:p>
        </p:txBody>
      </p:sp>
      <p:sp>
        <p:nvSpPr>
          <p:cNvPr id="25" name="Блок-схема: процесс  24"/>
          <p:cNvSpPr/>
          <p:nvPr/>
        </p:nvSpPr>
        <p:spPr>
          <a:xfrm>
            <a:off x="6913880" y="4185285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000"/>
              <a:t>Postgres Pro</a:t>
            </a:r>
          </a:p>
        </p:txBody>
      </p:sp>
      <p:sp>
        <p:nvSpPr>
          <p:cNvPr id="26" name="Блок-схема: процесс  25"/>
          <p:cNvSpPr/>
          <p:nvPr/>
        </p:nvSpPr>
        <p:spPr>
          <a:xfrm>
            <a:off x="9558548" y="1369695"/>
            <a:ext cx="114808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en-US" sz="1000" dirty="0"/>
              <a:t>Инфраструктура</a:t>
            </a:r>
          </a:p>
        </p:txBody>
      </p:sp>
      <p:sp>
        <p:nvSpPr>
          <p:cNvPr id="27" name="Блок-схема: процесс  26"/>
          <p:cNvSpPr/>
          <p:nvPr/>
        </p:nvSpPr>
        <p:spPr>
          <a:xfrm>
            <a:off x="9592310" y="2488565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ru-RU" sz="1000"/>
              <a:t>Kubernetes</a:t>
            </a:r>
            <a:endParaRPr lang="ru-RU" altLang="en-US" sz="1000"/>
          </a:p>
        </p:txBody>
      </p:sp>
      <p:sp>
        <p:nvSpPr>
          <p:cNvPr id="28" name="Блок-схема: процесс  27"/>
          <p:cNvSpPr/>
          <p:nvPr/>
        </p:nvSpPr>
        <p:spPr>
          <a:xfrm>
            <a:off x="9592310" y="3336925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ru-RU" sz="1000"/>
              <a:t>Docker</a:t>
            </a:r>
          </a:p>
        </p:txBody>
      </p:sp>
      <p:sp>
        <p:nvSpPr>
          <p:cNvPr id="29" name="Блок-схема: процесс  28"/>
          <p:cNvSpPr/>
          <p:nvPr/>
        </p:nvSpPr>
        <p:spPr>
          <a:xfrm>
            <a:off x="9592310" y="4185285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ru-RU" sz="1000"/>
              <a:t>Astra Linux</a:t>
            </a:r>
            <a:endParaRPr lang="ru-RU" altLang="en-US" sz="1000"/>
          </a:p>
        </p:txBody>
      </p:sp>
      <p:sp>
        <p:nvSpPr>
          <p:cNvPr id="3" name="Блок-схема: процесс  2"/>
          <p:cNvSpPr/>
          <p:nvPr/>
        </p:nvSpPr>
        <p:spPr>
          <a:xfrm>
            <a:off x="4146550" y="3607435"/>
            <a:ext cx="914400" cy="61150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ru-RU" sz="1000"/>
              <a:t>REST API</a:t>
            </a:r>
            <a:endParaRPr lang="ru-RU" alt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sym typeface="+mn-ea"/>
              </a:rPr>
              <a:t>Структура</a:t>
            </a:r>
            <a:r>
              <a:rPr lang="en-US" altLang="ru-RU" sz="3200" dirty="0">
                <a:sym typeface="+mn-ea"/>
              </a:rPr>
              <a:t> (</a:t>
            </a:r>
            <a:r>
              <a:rPr lang="en-US" altLang="en-US" sz="3200" dirty="0">
                <a:sym typeface="+mn-ea"/>
              </a:rPr>
              <a:t>Подсистемы</a:t>
            </a:r>
            <a:r>
              <a:rPr lang="en-US" altLang="ru-RU" sz="3200" dirty="0">
                <a:sym typeface="+mn-ea"/>
              </a:rPr>
              <a:t> </a:t>
            </a:r>
            <a:r>
              <a:rPr lang="en-US" altLang="en-US" sz="3200" dirty="0">
                <a:sym typeface="+mn-ea"/>
              </a:rPr>
              <a:t>и</a:t>
            </a:r>
            <a:r>
              <a:rPr lang="en-US" altLang="ru-RU" sz="3200" dirty="0">
                <a:sym typeface="+mn-ea"/>
              </a:rPr>
              <a:t> </a:t>
            </a:r>
            <a:r>
              <a:rPr lang="ru-RU" altLang="en-US" sz="3200" dirty="0">
                <a:sym typeface="+mn-ea"/>
              </a:rPr>
              <a:t>м</a:t>
            </a:r>
            <a:r>
              <a:rPr lang="en-US" altLang="en-US" sz="3200" dirty="0">
                <a:sym typeface="+mn-ea"/>
              </a:rPr>
              <a:t>одули</a:t>
            </a:r>
            <a:r>
              <a:rPr lang="en-US" altLang="ru-RU" sz="3200" dirty="0">
                <a:sym typeface="+mn-ea"/>
              </a:rPr>
              <a:t>)</a:t>
            </a:r>
            <a:endParaRPr lang="ru-RU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167311"/>
            <a:ext cx="10402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" pitchFamily="2" charset="0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1830" y="6394311"/>
            <a:ext cx="288151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Студент:</a:t>
            </a:r>
            <a:endParaRPr lang="ru-RU" sz="1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Кулигин Александр Андреевич, группа УИС-111</a:t>
            </a:r>
            <a:endParaRPr lang="ru-RU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32184" y="6394311"/>
            <a:ext cx="455964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Импортонезависимая автоматизированная система оперативного управления перевозками</a:t>
            </a:r>
            <a:endParaRPr lang="ru-RU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633634" y="6380852"/>
            <a:ext cx="40544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5</a:t>
            </a:r>
          </a:p>
        </p:txBody>
      </p:sp>
      <p:pic>
        <p:nvPicPr>
          <p:cNvPr id="20" name="Объект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176" y="6338773"/>
            <a:ext cx="685696" cy="51922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684" y="6327643"/>
            <a:ext cx="431278" cy="498929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1097280" y="1582420"/>
            <a:ext cx="6096000" cy="36933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ru-RU" dirty="0"/>
              <a:t>•  </a:t>
            </a:r>
            <a:r>
              <a:rPr lang="en-US" altLang="en-US" dirty="0" err="1"/>
              <a:t>Планирование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ru-RU" altLang="en-US" dirty="0"/>
              <a:t>о</a:t>
            </a:r>
            <a:r>
              <a:rPr lang="en-US" altLang="en-US" dirty="0" err="1"/>
              <a:t>птимизация</a:t>
            </a:r>
            <a:r>
              <a:rPr lang="en-US" altLang="ru-RU" dirty="0"/>
              <a:t>: </a:t>
            </a:r>
            <a:r>
              <a:rPr lang="ru-RU" altLang="en-US" dirty="0"/>
              <a:t>м</a:t>
            </a:r>
            <a:r>
              <a:rPr lang="en-US" altLang="en-US" dirty="0" err="1"/>
              <a:t>аршрутизация</a:t>
            </a:r>
            <a:r>
              <a:rPr lang="en-US" altLang="ru-RU" dirty="0"/>
              <a:t>, </a:t>
            </a:r>
            <a:r>
              <a:rPr lang="en-US" altLang="en-US" dirty="0" err="1"/>
              <a:t>распределение</a:t>
            </a:r>
            <a:r>
              <a:rPr lang="en-US" altLang="ru-RU" dirty="0"/>
              <a:t> </a:t>
            </a:r>
            <a:r>
              <a:rPr lang="en-US" altLang="en-US" dirty="0" err="1"/>
              <a:t>ресурсов</a:t>
            </a:r>
            <a:r>
              <a:rPr lang="en-US" altLang="ru-RU" dirty="0"/>
              <a:t>, </a:t>
            </a:r>
            <a:r>
              <a:rPr lang="en-US" altLang="en-US" dirty="0" err="1"/>
              <a:t>расчеты</a:t>
            </a:r>
            <a:r>
              <a:rPr lang="en-US" altLang="ru-RU" dirty="0"/>
              <a:t>.</a:t>
            </a:r>
          </a:p>
          <a:p>
            <a:r>
              <a:rPr lang="en-US" altLang="ru-RU" dirty="0"/>
              <a:t>•  </a:t>
            </a:r>
            <a:r>
              <a:rPr lang="en-US" altLang="en-US" dirty="0" err="1"/>
              <a:t>Оперативный</a:t>
            </a:r>
            <a:r>
              <a:rPr lang="en-US" altLang="ru-RU" dirty="0"/>
              <a:t> </a:t>
            </a:r>
            <a:r>
              <a:rPr lang="ru-RU" altLang="en-US" dirty="0"/>
              <a:t>м</a:t>
            </a:r>
            <a:r>
              <a:rPr lang="en-US" altLang="en-US" dirty="0" err="1"/>
              <a:t>ониторинг</a:t>
            </a:r>
            <a:r>
              <a:rPr lang="en-US" altLang="ru-RU" dirty="0"/>
              <a:t>: </a:t>
            </a:r>
            <a:r>
              <a:rPr lang="en-US" altLang="en-US" dirty="0"/>
              <a:t>ГЛОНАСС</a:t>
            </a:r>
            <a:r>
              <a:rPr lang="en-US" altLang="ru-RU" dirty="0"/>
              <a:t>/GPS, </a:t>
            </a:r>
            <a:r>
              <a:rPr lang="en-US" altLang="en-US" dirty="0" err="1"/>
              <a:t>телеметрия</a:t>
            </a:r>
            <a:r>
              <a:rPr lang="en-US" altLang="ru-RU" dirty="0"/>
              <a:t>, </a:t>
            </a:r>
            <a:r>
              <a:rPr lang="en-US" altLang="en-US" dirty="0" err="1"/>
              <a:t>контроль</a:t>
            </a:r>
            <a:r>
              <a:rPr lang="en-US" altLang="ru-RU" dirty="0"/>
              <a:t> </a:t>
            </a:r>
            <a:r>
              <a:rPr lang="en-US" altLang="en-US" dirty="0" err="1"/>
              <a:t>водителей</a:t>
            </a:r>
            <a:r>
              <a:rPr lang="en-US" altLang="ru-RU" dirty="0"/>
              <a:t>.</a:t>
            </a:r>
          </a:p>
          <a:p>
            <a:r>
              <a:rPr lang="en-US" altLang="ru-RU" dirty="0"/>
              <a:t>•  </a:t>
            </a:r>
            <a:r>
              <a:rPr lang="en-US" altLang="en-US" dirty="0"/>
              <a:t>Управление</a:t>
            </a:r>
            <a:r>
              <a:rPr lang="en-US" altLang="ru-RU" dirty="0"/>
              <a:t> </a:t>
            </a:r>
            <a:r>
              <a:rPr lang="ru-RU" altLang="en-US" dirty="0"/>
              <a:t>п</a:t>
            </a:r>
            <a:r>
              <a:rPr lang="en-US" altLang="en-US" dirty="0" err="1"/>
              <a:t>арком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ТО</a:t>
            </a:r>
            <a:r>
              <a:rPr lang="en-US" altLang="ru-RU" dirty="0"/>
              <a:t>: </a:t>
            </a:r>
            <a:r>
              <a:rPr lang="ru-RU" altLang="en-US" dirty="0"/>
              <a:t>у</a:t>
            </a:r>
            <a:r>
              <a:rPr lang="en-US" altLang="en-US" dirty="0" err="1"/>
              <a:t>чет</a:t>
            </a:r>
            <a:r>
              <a:rPr lang="en-US" altLang="ru-RU" dirty="0"/>
              <a:t> </a:t>
            </a:r>
            <a:r>
              <a:rPr lang="en-US" altLang="en-US" dirty="0"/>
              <a:t>ТС</a:t>
            </a:r>
            <a:r>
              <a:rPr lang="en-US" altLang="ru-RU" dirty="0"/>
              <a:t>, </a:t>
            </a:r>
            <a:r>
              <a:rPr lang="en-US" altLang="en-US" dirty="0" err="1"/>
              <a:t>планирование</a:t>
            </a:r>
            <a:r>
              <a:rPr lang="en-US" altLang="ru-RU" dirty="0"/>
              <a:t> </a:t>
            </a:r>
            <a:r>
              <a:rPr lang="en-US" altLang="en-US" dirty="0" err="1"/>
              <a:t>ремонтов</a:t>
            </a:r>
            <a:r>
              <a:rPr lang="en-US" altLang="ru-RU" dirty="0"/>
              <a:t>.</a:t>
            </a:r>
          </a:p>
          <a:p>
            <a:r>
              <a:rPr lang="en-US" altLang="ru-RU" dirty="0"/>
              <a:t>•  </a:t>
            </a:r>
            <a:r>
              <a:rPr lang="en-US" altLang="en-US" dirty="0"/>
              <a:t>Управление</a:t>
            </a:r>
            <a:r>
              <a:rPr lang="en-US" altLang="ru-RU" dirty="0"/>
              <a:t> </a:t>
            </a:r>
            <a:r>
              <a:rPr lang="ru-RU" altLang="en-US" dirty="0"/>
              <a:t>п</a:t>
            </a:r>
            <a:r>
              <a:rPr lang="en-US" altLang="en-US" dirty="0"/>
              <a:t>ерсоналом</a:t>
            </a:r>
            <a:r>
              <a:rPr lang="en-US" altLang="ru-RU" dirty="0"/>
              <a:t>: </a:t>
            </a:r>
            <a:r>
              <a:rPr lang="ru-RU" altLang="en-US" dirty="0"/>
              <a:t>у</a:t>
            </a:r>
            <a:r>
              <a:rPr lang="en-US" altLang="en-US" dirty="0" err="1"/>
              <a:t>чет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 err="1"/>
              <a:t>контроль</a:t>
            </a:r>
            <a:r>
              <a:rPr lang="en-US" altLang="ru-RU" dirty="0"/>
              <a:t> </a:t>
            </a:r>
            <a:r>
              <a:rPr lang="en-US" altLang="en-US" dirty="0" err="1"/>
              <a:t>водителей</a:t>
            </a:r>
            <a:r>
              <a:rPr lang="en-US" altLang="ru-RU" dirty="0"/>
              <a:t>.</a:t>
            </a:r>
          </a:p>
          <a:p>
            <a:r>
              <a:rPr lang="en-US" altLang="ru-RU" dirty="0"/>
              <a:t>•  </a:t>
            </a:r>
            <a:r>
              <a:rPr lang="ru-RU" altLang="en-US" dirty="0"/>
              <a:t>д</a:t>
            </a:r>
            <a:r>
              <a:rPr lang="en-US" altLang="en-US" dirty="0" err="1"/>
              <a:t>окументооборот</a:t>
            </a:r>
            <a:r>
              <a:rPr lang="en-US" altLang="ru-RU" dirty="0"/>
              <a:t>: </a:t>
            </a:r>
            <a:r>
              <a:rPr lang="ru-RU" altLang="en-US" dirty="0"/>
              <a:t>г</a:t>
            </a:r>
            <a:r>
              <a:rPr lang="en-US" altLang="en-US" dirty="0" err="1"/>
              <a:t>енерация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ЭДО</a:t>
            </a:r>
            <a:r>
              <a:rPr lang="en-US" altLang="ru-RU" dirty="0"/>
              <a:t>.</a:t>
            </a:r>
          </a:p>
          <a:p>
            <a:r>
              <a:rPr lang="en-US" altLang="ru-RU" dirty="0"/>
              <a:t>•  </a:t>
            </a:r>
            <a:r>
              <a:rPr lang="en-US" altLang="en-US" dirty="0" err="1"/>
              <a:t>Аналитика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ru-RU" altLang="en-US" dirty="0"/>
              <a:t>о</a:t>
            </a:r>
            <a:r>
              <a:rPr lang="en-US" altLang="en-US" dirty="0" err="1"/>
              <a:t>тчетность</a:t>
            </a:r>
            <a:r>
              <a:rPr lang="en-US" altLang="ru-RU" dirty="0"/>
              <a:t>: OLAP, </a:t>
            </a:r>
            <a:r>
              <a:rPr lang="en-US" altLang="en-US" dirty="0" err="1"/>
              <a:t>конструктор</a:t>
            </a:r>
            <a:r>
              <a:rPr lang="en-US" altLang="ru-RU" dirty="0"/>
              <a:t> </a:t>
            </a:r>
            <a:r>
              <a:rPr lang="en-US" altLang="en-US" dirty="0" err="1"/>
              <a:t>отчетов</a:t>
            </a:r>
            <a:r>
              <a:rPr lang="en-US" altLang="ru-RU" dirty="0"/>
              <a:t>, </a:t>
            </a:r>
            <a:r>
              <a:rPr lang="en-US" altLang="en-US" dirty="0" err="1"/>
              <a:t>дашборды</a:t>
            </a:r>
            <a:r>
              <a:rPr lang="en-US" altLang="ru-RU" dirty="0"/>
              <a:t>.</a:t>
            </a:r>
          </a:p>
          <a:p>
            <a:r>
              <a:rPr lang="en-US" altLang="ru-RU" dirty="0"/>
              <a:t>•  </a:t>
            </a:r>
            <a:r>
              <a:rPr lang="en-US" altLang="en-US" dirty="0" err="1"/>
              <a:t>Геоинформационная</a:t>
            </a:r>
            <a:r>
              <a:rPr lang="en-US" altLang="ru-RU" dirty="0"/>
              <a:t> (</a:t>
            </a:r>
            <a:r>
              <a:rPr lang="en-US" altLang="en-US" dirty="0"/>
              <a:t>ГИС</a:t>
            </a:r>
            <a:r>
              <a:rPr lang="en-US" altLang="ru-RU" dirty="0"/>
              <a:t>): </a:t>
            </a:r>
            <a:r>
              <a:rPr lang="ru-RU" altLang="ru-RU" dirty="0"/>
              <a:t>к</a:t>
            </a:r>
            <a:r>
              <a:rPr lang="en-US" altLang="en-US" dirty="0" err="1"/>
              <a:t>артография</a:t>
            </a:r>
            <a:r>
              <a:rPr lang="en-US" altLang="ru-RU" dirty="0"/>
              <a:t>, </a:t>
            </a:r>
            <a:r>
              <a:rPr lang="en-US" altLang="en-US" dirty="0" err="1"/>
              <a:t>маршрутизация</a:t>
            </a:r>
            <a:r>
              <a:rPr lang="en-US" altLang="ru-RU" dirty="0"/>
              <a:t>.</a:t>
            </a:r>
          </a:p>
          <a:p>
            <a:r>
              <a:rPr lang="en-US" altLang="ru-RU" dirty="0"/>
              <a:t>•  </a:t>
            </a:r>
            <a:r>
              <a:rPr lang="en-US" altLang="en-US" dirty="0" err="1"/>
              <a:t>Интеграция</a:t>
            </a:r>
            <a:r>
              <a:rPr lang="en-US" altLang="ru-RU" dirty="0"/>
              <a:t>: API-</a:t>
            </a:r>
            <a:r>
              <a:rPr lang="en-US" altLang="en-US" dirty="0" err="1"/>
              <a:t>шлюз</a:t>
            </a:r>
            <a:r>
              <a:rPr lang="en-US" altLang="ru-RU" dirty="0"/>
              <a:t>, </a:t>
            </a:r>
            <a:r>
              <a:rPr lang="en-US" altLang="en-US" dirty="0" err="1"/>
              <a:t>обмен</a:t>
            </a:r>
            <a:r>
              <a:rPr lang="en-US" altLang="ru-RU" dirty="0"/>
              <a:t> </a:t>
            </a:r>
            <a:r>
              <a:rPr lang="en-US" altLang="en-US" dirty="0" err="1"/>
              <a:t>данными</a:t>
            </a:r>
            <a:r>
              <a:rPr lang="en-US" altLang="ru-RU" dirty="0"/>
              <a:t>.</a:t>
            </a:r>
          </a:p>
          <a:p>
            <a:r>
              <a:rPr lang="en-US" altLang="ru-RU" dirty="0"/>
              <a:t>•  </a:t>
            </a:r>
            <a:r>
              <a:rPr lang="en-US" altLang="en-US" dirty="0" err="1"/>
              <a:t>Безопасность</a:t>
            </a:r>
            <a:r>
              <a:rPr lang="en-US" altLang="ru-RU" dirty="0"/>
              <a:t>: </a:t>
            </a:r>
            <a:r>
              <a:rPr lang="ru-RU" altLang="ru-RU" dirty="0"/>
              <a:t>а</a:t>
            </a:r>
            <a:r>
              <a:rPr lang="en-US" altLang="en-US" dirty="0" err="1"/>
              <a:t>утентификация</a:t>
            </a:r>
            <a:r>
              <a:rPr lang="en-US" altLang="ru-RU" dirty="0"/>
              <a:t>, </a:t>
            </a:r>
            <a:r>
              <a:rPr lang="en-US" altLang="en-US" dirty="0" err="1"/>
              <a:t>авторизация</a:t>
            </a:r>
            <a:r>
              <a:rPr lang="en-US" altLang="ru-RU" dirty="0"/>
              <a:t>, </a:t>
            </a:r>
            <a:r>
              <a:rPr lang="en-US" altLang="en-US" dirty="0" err="1"/>
              <a:t>аудит</a:t>
            </a:r>
            <a:r>
              <a:rPr lang="en-US" altLang="ru-RU" dirty="0"/>
              <a:t>.</a:t>
            </a:r>
            <a:endParaRPr lang="ru-RU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Технические</a:t>
            </a:r>
            <a:r>
              <a:rPr lang="en-US" altLang="ru-RU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ru-RU" sz="3600" dirty="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редства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1830" y="6394311"/>
            <a:ext cx="288151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Студент:</a:t>
            </a:r>
            <a:endParaRPr lang="ru-RU" sz="1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Кулигин Александр Андреевич, группа УИС-111</a:t>
            </a:r>
            <a:endParaRPr lang="ru-RU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32184" y="6394311"/>
            <a:ext cx="455964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Импортонезависимая автоматизированная система оперативного управления перевозками</a:t>
            </a:r>
            <a:endParaRPr lang="ru-RU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633634" y="6380852"/>
            <a:ext cx="40544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6</a:t>
            </a:r>
            <a:endParaRPr lang="ru-RU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Объект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176" y="6338773"/>
            <a:ext cx="685696" cy="51922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684" y="6327643"/>
            <a:ext cx="431278" cy="498929"/>
          </a:xfrm>
          <a:prstGeom prst="rect">
            <a:avLst/>
          </a:prstGeom>
        </p:spPr>
      </p:pic>
      <p:graphicFrame>
        <p:nvGraphicFramePr>
          <p:cNvPr id="36" name="Таблица 35"/>
          <p:cNvGraphicFramePr/>
          <p:nvPr>
            <p:extLst>
              <p:ext uri="{D42A27DB-BD31-4B8C-83A1-F6EECF244321}">
                <p14:modId xmlns:p14="http://schemas.microsoft.com/office/powerpoint/2010/main" val="1231556402"/>
              </p:ext>
            </p:extLst>
          </p:nvPr>
        </p:nvGraphicFramePr>
        <p:xfrm>
          <a:off x="1828800" y="1905000"/>
          <a:ext cx="8533130" cy="330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ru-RU"/>
                        <a:t>ПО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dirty="0"/>
                        <a:t>HW</a:t>
                      </a:r>
                      <a:r>
                        <a:rPr lang="ru-RU" altLang="en-US" dirty="0"/>
                        <a:t> (</a:t>
                      </a: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</a:t>
                      </a:r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Astra 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Российские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серверы</a:t>
                      </a:r>
                      <a:r>
                        <a:rPr lang="en-US" altLang="ru-RU"/>
                        <a:t> (Aquarius, Yadro)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Red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СХД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Postgres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Cетевое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оборудование</a:t>
                      </a:r>
                      <a:r>
                        <a:rPr lang="en-US" altLang="ru-RU"/>
                        <a:t> (Eltex)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OpenJDK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Т</a:t>
                      </a:r>
                      <a:r>
                        <a:rPr lang="en-US" altLang="en-US"/>
                        <a:t>ерминалы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ГЛОНАСС</a:t>
                      </a:r>
                      <a:r>
                        <a:rPr lang="en-US" altLang="ru-RU"/>
                        <a:t>/GPS (</a:t>
                      </a:r>
                      <a:r>
                        <a:rPr lang="en-US" altLang="en-US"/>
                        <a:t>СКАУТ</a:t>
                      </a:r>
                      <a:r>
                        <a:rPr lang="en-US" altLang="ru-RU"/>
                        <a:t>, Omnicomm)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Nginx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Взаимодействие</a:t>
            </a:r>
            <a:r>
              <a:rPr lang="en-US" altLang="ru-RU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 sz="3600" dirty="0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нешними</a:t>
            </a:r>
            <a:r>
              <a:rPr lang="en-US" altLang="ru-RU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 sz="3600" dirty="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en-US" sz="3600" dirty="0" err="1">
                <a:latin typeface="Times New Roman" panose="02020603050405020304" charset="0"/>
                <a:cs typeface="Times New Roman" panose="02020603050405020304" charset="0"/>
              </a:rPr>
              <a:t>истемами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91830" y="6394311"/>
            <a:ext cx="288151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Студент:</a:t>
            </a:r>
            <a:endParaRPr lang="ru-RU" sz="1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Кулигин Александр Андреевич, группа УИС-111</a:t>
            </a:r>
            <a:endParaRPr lang="ru-RU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32184" y="6394311"/>
            <a:ext cx="455964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Импортонезависимая автоматизированная система оперативного управления перевозками</a:t>
            </a:r>
            <a:endParaRPr lang="ru-RU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633634" y="6380852"/>
            <a:ext cx="40544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7</a:t>
            </a:r>
            <a:endParaRPr lang="ru-RU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1" name="Объект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176" y="6338773"/>
            <a:ext cx="685696" cy="51922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684" y="6327643"/>
            <a:ext cx="431278" cy="498929"/>
          </a:xfrm>
          <a:prstGeom prst="rect">
            <a:avLst/>
          </a:prstGeom>
        </p:spPr>
      </p:pic>
      <p:graphicFrame>
        <p:nvGraphicFramePr>
          <p:cNvPr id="4" name="Таблица 3"/>
          <p:cNvGraphicFramePr/>
          <p:nvPr>
            <p:custDataLst>
              <p:tags r:id="rId1"/>
            </p:custDataLst>
          </p:nvPr>
        </p:nvGraphicFramePr>
        <p:xfrm>
          <a:off x="1959610" y="1691005"/>
          <a:ext cx="8531860" cy="3933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2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2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2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Государственные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Корпоративные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Сервисы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Протоколы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0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ЭРА</a:t>
                      </a:r>
                      <a:r>
                        <a:rPr lang="en-US" altLang="ru-RU"/>
                        <a:t>-</a:t>
                      </a:r>
                      <a:r>
                        <a:rPr lang="en-US" altLang="en-US"/>
                        <a:t>ГЛОНАСС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ERP (1</a:t>
                      </a:r>
                      <a:r>
                        <a:rPr lang="en-US" altLang="en-US"/>
                        <a:t>С</a:t>
                      </a:r>
                      <a:r>
                        <a:rPr lang="en-US" altLang="ru-RU"/>
                        <a:t>, </a:t>
                      </a:r>
                      <a:r>
                        <a:rPr lang="en-US" altLang="en-US"/>
                        <a:t>Галактика</a:t>
                      </a:r>
                      <a:r>
                        <a:rPr lang="en-US" altLang="ru-R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Отечественные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картографические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сервисы</a:t>
                      </a:r>
                      <a:r>
                        <a:rPr lang="en-US" altLang="ru-RU"/>
                        <a:t> (</a:t>
                      </a:r>
                      <a:r>
                        <a:rPr lang="en-US" altLang="en-US"/>
                        <a:t>Яндекс</a:t>
                      </a:r>
                      <a:r>
                        <a:rPr lang="en-US" altLang="ru-RU"/>
                        <a:t>.</a:t>
                      </a:r>
                      <a:r>
                        <a:rPr lang="en-US" altLang="en-US"/>
                        <a:t>Карты</a:t>
                      </a:r>
                      <a:r>
                        <a:rPr lang="en-US" altLang="ru-R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REST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Платон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WMS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/>
                        <a:t>С</a:t>
                      </a:r>
                      <a:r>
                        <a:rPr lang="en-US" altLang="en-US"/>
                        <a:t>ервисы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прогноза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погоды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SOAP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ФНС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МВД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/>
                        <a:t>XML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err="1">
                <a:latin typeface="Times New Roman" panose="02020603050405020304" charset="0"/>
                <a:cs typeface="Times New Roman" panose="02020603050405020304" charset="0"/>
              </a:rPr>
              <a:t>Примеры</a:t>
            </a:r>
            <a:r>
              <a:rPr lang="en-US" altLang="ru-RU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 sz="3600" dirty="0">
                <a:latin typeface="Times New Roman" panose="02020603050405020304" charset="0"/>
                <a:cs typeface="Times New Roman" panose="02020603050405020304" charset="0"/>
              </a:rPr>
              <a:t>п</a:t>
            </a:r>
            <a:r>
              <a:rPr lang="en-US" altLang="en-US" sz="3600" dirty="0" err="1">
                <a:latin typeface="Times New Roman" panose="02020603050405020304" charset="0"/>
                <a:cs typeface="Times New Roman" panose="02020603050405020304" charset="0"/>
              </a:rPr>
              <a:t>рименения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91830" y="6394311"/>
            <a:ext cx="288151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Студент:</a:t>
            </a:r>
            <a:endParaRPr lang="ru-RU" sz="1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Кулигин Александр Андреевич, группа УИС-111</a:t>
            </a:r>
            <a:endParaRPr lang="ru-RU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5" y="6362677"/>
            <a:ext cx="1893079" cy="4468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32184" y="6394311"/>
            <a:ext cx="455964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Импортонезависимая автоматизированная система оперативного управления перевозками</a:t>
            </a:r>
            <a:endParaRPr lang="ru-RU" sz="10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633634" y="6380852"/>
            <a:ext cx="40544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8</a:t>
            </a:r>
            <a:endParaRPr lang="ru-RU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1" name="Объект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176" y="6338773"/>
            <a:ext cx="685696" cy="51922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684" y="6327643"/>
            <a:ext cx="431278" cy="498929"/>
          </a:xfrm>
          <a:prstGeom prst="rect">
            <a:avLst/>
          </a:prstGeom>
        </p:spPr>
      </p:pic>
      <p:graphicFrame>
        <p:nvGraphicFramePr>
          <p:cNvPr id="9" name="Таблица 8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0455802"/>
              </p:ext>
            </p:extLst>
          </p:nvPr>
        </p:nvGraphicFramePr>
        <p:xfrm>
          <a:off x="1828800" y="1691005"/>
          <a:ext cx="853313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Интерфейсы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Документы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 err="1"/>
                        <a:t>Диспетчер</a:t>
                      </a:r>
                      <a:r>
                        <a:rPr lang="en-US" altLang="ru-RU" dirty="0"/>
                        <a:t>: </a:t>
                      </a:r>
                      <a:r>
                        <a:rPr lang="ru-RU" altLang="ru-RU" dirty="0"/>
                        <a:t>в</a:t>
                      </a:r>
                      <a:r>
                        <a:rPr lang="en-US" altLang="en-US" dirty="0" err="1"/>
                        <a:t>еб</a:t>
                      </a:r>
                      <a:r>
                        <a:rPr lang="en-US" altLang="ru-RU" dirty="0" err="1"/>
                        <a:t>-</a:t>
                      </a:r>
                      <a:r>
                        <a:rPr lang="en-US" altLang="en-US" dirty="0" err="1"/>
                        <a:t>интерфейс</a:t>
                      </a:r>
                      <a:r>
                        <a:rPr lang="en-US" altLang="ru-RU" dirty="0"/>
                        <a:t> </a:t>
                      </a:r>
                      <a:r>
                        <a:rPr lang="en-US" altLang="en-US" dirty="0"/>
                        <a:t>с</a:t>
                      </a:r>
                      <a:r>
                        <a:rPr lang="en-US" altLang="ru-RU" dirty="0"/>
                        <a:t> </a:t>
                      </a:r>
                      <a:r>
                        <a:rPr lang="en-US" altLang="en-US" dirty="0" err="1"/>
                        <a:t>картой</a:t>
                      </a:r>
                      <a:r>
                        <a:rPr lang="en-US" altLang="ru-RU" dirty="0"/>
                        <a:t>, </a:t>
                      </a:r>
                      <a:r>
                        <a:rPr lang="en-US" altLang="en-US" dirty="0" err="1"/>
                        <a:t>списком</a:t>
                      </a:r>
                      <a:r>
                        <a:rPr lang="en-US" altLang="ru-RU" dirty="0"/>
                        <a:t> </a:t>
                      </a:r>
                      <a:r>
                        <a:rPr lang="en-US" altLang="en-US" dirty="0" err="1"/>
                        <a:t>рейсов</a:t>
                      </a:r>
                      <a:r>
                        <a:rPr lang="en-US" altLang="ru-RU" dirty="0"/>
                        <a:t>, </a:t>
                      </a:r>
                      <a:r>
                        <a:rPr lang="en-US" altLang="en-US" dirty="0" err="1"/>
                        <a:t>дашбордами</a:t>
                      </a:r>
                      <a:endParaRPr lang="en-US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Путевой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лист</a:t>
                      </a:r>
                      <a:r>
                        <a:rPr lang="en-US" altLang="ru-RU"/>
                        <a:t> (</a:t>
                      </a:r>
                      <a:r>
                        <a:rPr lang="en-US" altLang="en-US"/>
                        <a:t>различные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формы</a:t>
                      </a:r>
                      <a:r>
                        <a:rPr lang="en-US" altLang="ru-RU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 err="1"/>
                        <a:t>Водитель</a:t>
                      </a:r>
                      <a:r>
                        <a:rPr lang="en-US" altLang="ru-RU" dirty="0"/>
                        <a:t>: </a:t>
                      </a:r>
                      <a:r>
                        <a:rPr lang="ru-RU" altLang="en-US" dirty="0"/>
                        <a:t>м</a:t>
                      </a:r>
                      <a:r>
                        <a:rPr lang="en-US" altLang="en-US" dirty="0" err="1"/>
                        <a:t>обильное</a:t>
                      </a:r>
                      <a:r>
                        <a:rPr lang="en-US" altLang="ru-RU" dirty="0"/>
                        <a:t> </a:t>
                      </a:r>
                      <a:r>
                        <a:rPr lang="en-US" altLang="en-US" dirty="0" err="1"/>
                        <a:t>приложение</a:t>
                      </a:r>
                      <a:r>
                        <a:rPr lang="en-US" altLang="ru-RU" dirty="0"/>
                        <a:t> (</a:t>
                      </a:r>
                      <a:r>
                        <a:rPr lang="en-US" altLang="en-US" dirty="0" err="1"/>
                        <a:t>российские</a:t>
                      </a:r>
                      <a:r>
                        <a:rPr lang="en-US" altLang="ru-RU" dirty="0"/>
                        <a:t> </a:t>
                      </a:r>
                      <a:r>
                        <a:rPr lang="en-US" altLang="en-US" dirty="0"/>
                        <a:t>ОС</a:t>
                      </a:r>
                      <a:r>
                        <a:rPr lang="en-US" altLang="ru-RU" dirty="0"/>
                        <a:t>) </a:t>
                      </a:r>
                      <a:r>
                        <a:rPr lang="en-US" altLang="en-US" dirty="0"/>
                        <a:t>с</a:t>
                      </a:r>
                      <a:r>
                        <a:rPr lang="en-US" altLang="ru-RU" dirty="0"/>
                        <a:t> </a:t>
                      </a:r>
                      <a:r>
                        <a:rPr lang="en-US" altLang="en-US" dirty="0" err="1"/>
                        <a:t>путевым</a:t>
                      </a:r>
                      <a:r>
                        <a:rPr lang="en-US" altLang="ru-RU" dirty="0"/>
                        <a:t> </a:t>
                      </a:r>
                      <a:r>
                        <a:rPr lang="en-US" altLang="en-US" dirty="0" err="1"/>
                        <a:t>листом</a:t>
                      </a:r>
                      <a:r>
                        <a:rPr lang="en-US" altLang="ru-RU" dirty="0"/>
                        <a:t>, </a:t>
                      </a:r>
                      <a:r>
                        <a:rPr lang="en-US" altLang="en-US" dirty="0" err="1"/>
                        <a:t>навигацией</a:t>
                      </a:r>
                      <a:r>
                        <a:rPr lang="en-US" altLang="ru-RU" dirty="0"/>
                        <a:t>, </a:t>
                      </a:r>
                      <a:r>
                        <a:rPr lang="en-US" altLang="en-US" dirty="0" err="1"/>
                        <a:t>отчетностью</a:t>
                      </a:r>
                      <a:endParaRPr lang="en-US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Товарно</a:t>
                      </a:r>
                      <a:r>
                        <a:rPr lang="en-US" altLang="ru-RU"/>
                        <a:t>-</a:t>
                      </a:r>
                      <a:r>
                        <a:rPr lang="en-US" altLang="en-US"/>
                        <a:t>транспортная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накладная</a:t>
                      </a:r>
                      <a:r>
                        <a:rPr lang="en-US" altLang="ru-RU"/>
                        <a:t> (</a:t>
                      </a:r>
                      <a:r>
                        <a:rPr lang="en-US" altLang="en-US"/>
                        <a:t>ТТН</a:t>
                      </a:r>
                      <a:r>
                        <a:rPr lang="en-US" altLang="ru-RU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 err="1"/>
                        <a:t>Руководитель</a:t>
                      </a:r>
                      <a:r>
                        <a:rPr lang="en-US" altLang="ru-RU" dirty="0"/>
                        <a:t>: </a:t>
                      </a:r>
                      <a:r>
                        <a:rPr lang="ru-RU" altLang="en-US" dirty="0"/>
                        <a:t>а</a:t>
                      </a:r>
                      <a:r>
                        <a:rPr lang="en-US" altLang="en-US" dirty="0" err="1"/>
                        <a:t>налитические</a:t>
                      </a:r>
                      <a:r>
                        <a:rPr lang="en-US" altLang="ru-RU" dirty="0"/>
                        <a:t> </a:t>
                      </a:r>
                      <a:r>
                        <a:rPr lang="en-US" altLang="en-US" dirty="0" err="1"/>
                        <a:t>дашборды</a:t>
                      </a:r>
                      <a:r>
                        <a:rPr lang="en-US" altLang="ru-RU" dirty="0"/>
                        <a:t>, </a:t>
                      </a:r>
                      <a:r>
                        <a:rPr lang="en-US" altLang="en-US" dirty="0" err="1"/>
                        <a:t>отчеты</a:t>
                      </a:r>
                      <a:endParaRPr lang="en-US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Акт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выполненных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работ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 err="1"/>
                        <a:t>Разнообразные</a:t>
                      </a:r>
                      <a:r>
                        <a:rPr lang="en-US" altLang="ru-RU" dirty="0"/>
                        <a:t> </a:t>
                      </a:r>
                      <a:r>
                        <a:rPr lang="en-US" altLang="en-US" dirty="0" err="1"/>
                        <a:t>оперативные</a:t>
                      </a:r>
                      <a:r>
                        <a:rPr lang="en-US" altLang="ru-RU" dirty="0"/>
                        <a:t> </a:t>
                      </a:r>
                      <a:r>
                        <a:rPr lang="en-US" altLang="en-US" dirty="0"/>
                        <a:t>и</a:t>
                      </a:r>
                      <a:r>
                        <a:rPr lang="en-US" altLang="ru-RU" dirty="0"/>
                        <a:t> </a:t>
                      </a:r>
                      <a:r>
                        <a:rPr lang="en-US" altLang="en-US" dirty="0" err="1"/>
                        <a:t>аналитические</a:t>
                      </a:r>
                      <a:r>
                        <a:rPr lang="en-US" altLang="ru-RU" dirty="0"/>
                        <a:t> </a:t>
                      </a:r>
                      <a:r>
                        <a:rPr lang="en-US" altLang="en-US" dirty="0" err="1"/>
                        <a:t>отчеты</a:t>
                      </a:r>
                      <a:r>
                        <a:rPr lang="en-US" altLang="ru-RU" dirty="0"/>
                        <a:t> (</a:t>
                      </a:r>
                      <a:r>
                        <a:rPr lang="en-US" altLang="en-US" dirty="0" err="1"/>
                        <a:t>топливо</a:t>
                      </a:r>
                      <a:r>
                        <a:rPr lang="en-US" altLang="ru-RU" dirty="0"/>
                        <a:t>, </a:t>
                      </a:r>
                      <a:r>
                        <a:rPr lang="en-US" altLang="en-US" dirty="0" err="1"/>
                        <a:t>пробег</a:t>
                      </a:r>
                      <a:r>
                        <a:rPr lang="en-US" altLang="ru-RU" dirty="0"/>
                        <a:t>, </a:t>
                      </a:r>
                      <a:r>
                        <a:rPr lang="en-US" altLang="en-US" dirty="0" err="1"/>
                        <a:t>эффективность</a:t>
                      </a:r>
                      <a:r>
                        <a:rPr lang="en-US" altLang="ru-RU" dirty="0"/>
                        <a:t>, </a:t>
                      </a:r>
                      <a:r>
                        <a:rPr lang="en-US" altLang="en-US" dirty="0" err="1"/>
                        <a:t>инциденты</a:t>
                      </a:r>
                      <a:r>
                        <a:rPr lang="en-US" alt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4817" y="2862262"/>
            <a:ext cx="6117335" cy="1133475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charset="0"/>
                <a:cs typeface="Times New Roman" panose="02020603050405020304" charset="0"/>
              </a:rPr>
              <a:t>Спасибо за внимание.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1*309"/>
  <p:tag name="TABLE_ENDDRAG_RECT" val="144*159*671*30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1*217"/>
  <p:tag name="TABLE_ENDDRAG_RECT" val="144*165*671*217"/>
</p:tagLst>
</file>

<file path=ppt/theme/theme1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23455C"/>
      </a:dk2>
      <a:lt2>
        <a:srgbClr val="E7E6E6"/>
      </a:lt2>
      <a:accent1>
        <a:srgbClr val="51A6DA"/>
      </a:accent1>
      <a:accent2>
        <a:srgbClr val="23455C"/>
      </a:accent2>
      <a:accent3>
        <a:srgbClr val="3B749C"/>
      </a:accent3>
      <a:accent4>
        <a:srgbClr val="56AFE8"/>
      </a:accent4>
      <a:accent5>
        <a:srgbClr val="4792C2"/>
      </a:accent5>
      <a:accent6>
        <a:srgbClr val="70AD47"/>
      </a:accent6>
      <a:hlink>
        <a:srgbClr val="23455C"/>
      </a:hlink>
      <a:folHlink>
        <a:srgbClr val="56AFE8"/>
      </a:folHlink>
    </a:clrScheme>
    <a:fontScheme name="Arial/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516</Words>
  <Application>Microsoft Office PowerPoint</Application>
  <PresentationFormat>Широкоэкранный</PresentationFormat>
  <Paragraphs>129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Montserrat</vt:lpstr>
      <vt:lpstr>Times New Roman</vt:lpstr>
      <vt:lpstr>Тема Office</vt:lpstr>
      <vt:lpstr>Импортонезависимая автоматизированная система оперативного управления перевозками</vt:lpstr>
      <vt:lpstr>Цели и задачи</vt:lpstr>
      <vt:lpstr>Эволюция импортонезависимости в транспортной логистике</vt:lpstr>
      <vt:lpstr>Архитектура системы</vt:lpstr>
      <vt:lpstr>Структура (Подсистемы и модули)</vt:lpstr>
      <vt:lpstr>Технические средства</vt:lpstr>
      <vt:lpstr>Взаимодействие с внешними системами</vt:lpstr>
      <vt:lpstr>Примеры применения</vt:lpstr>
      <vt:lpstr>Спасибо за внимание.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Совершенствование логистической системы производственной компании с применением имитационного моделирования</dc:title>
  <dc:creator/>
  <cp:lastModifiedBy>Artem Gubin</cp:lastModifiedBy>
  <cp:revision>10</cp:revision>
  <dcterms:created xsi:type="dcterms:W3CDTF">2022-11-23T14:01:00Z</dcterms:created>
  <dcterms:modified xsi:type="dcterms:W3CDTF">2025-12-07T16:28:16Z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1D546F1FDD9A4BCBBF76B9B65F9932AA</vt:lpwstr>
  </property>
  <property fmtid="{D5CDD505-2E9C-101B-9397-08002B2CF9AE}" pid="3" name="KSOProductBuildVer">
    <vt:lpwstr>1049-12.2.0.23155</vt:lpwstr>
  </property>
</Properties>
</file>